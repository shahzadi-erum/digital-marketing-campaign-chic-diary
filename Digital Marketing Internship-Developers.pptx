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afira March" charset="1" panose="02000503000000020003"/>
      <p:regular r:id="rId18"/>
    </p:embeddedFont>
    <p:embeddedFont>
      <p:font typeface="Open Sans" charset="1" panose="00000000000000000000"/>
      <p:regular r:id="rId19"/>
    </p:embeddedFont>
    <p:embeddedFont>
      <p:font typeface="Canva Sans Bold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Fxq2HLXA.mp4" Type="http://schemas.openxmlformats.org/officeDocument/2006/relationships/video"/><Relationship Id="rId11" Target="../media/VAHFxq2HLXA.mp4" Type="http://schemas.microsoft.com/office/2007/relationships/media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6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65861" y="3470884"/>
            <a:ext cx="14614592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79439" y="5570537"/>
            <a:ext cx="7061522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Shahzadi Erum</a:t>
            </a:r>
          </a:p>
        </p:txBody>
      </p:sp>
      <p:grpSp>
        <p:nvGrpSpPr>
          <p:cNvPr name="Group 7" id="7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145639" y="6274300"/>
            <a:ext cx="7529122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Digital Marketing Internship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45639" y="7035214"/>
            <a:ext cx="7529122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13-April-2026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6813" y="1535080"/>
            <a:ext cx="14614592" cy="7233878"/>
            <a:chOff x="0" y="0"/>
            <a:chExt cx="3849111" cy="19052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905219"/>
            </a:xfrm>
            <a:custGeom>
              <a:avLst/>
              <a:gdLst/>
              <a:ahLst/>
              <a:cxnLst/>
              <a:rect r="r" b="b" t="t" l="l"/>
              <a:pathLst>
                <a:path h="1905219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878202"/>
                  </a:lnTo>
                  <a:cubicBezTo>
                    <a:pt x="3849111" y="1885367"/>
                    <a:pt x="3846264" y="1892239"/>
                    <a:pt x="3841198" y="1897306"/>
                  </a:cubicBezTo>
                  <a:cubicBezTo>
                    <a:pt x="3836131" y="1902373"/>
                    <a:pt x="3829259" y="1905219"/>
                    <a:pt x="3822094" y="1905219"/>
                  </a:cubicBezTo>
                  <a:lnTo>
                    <a:pt x="27017" y="1905219"/>
                  </a:lnTo>
                  <a:cubicBezTo>
                    <a:pt x="19851" y="1905219"/>
                    <a:pt x="12980" y="1902373"/>
                    <a:pt x="7913" y="1897306"/>
                  </a:cubicBezTo>
                  <a:cubicBezTo>
                    <a:pt x="2846" y="1892239"/>
                    <a:pt x="0" y="1885367"/>
                    <a:pt x="0" y="1878202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943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36296" y="2239908"/>
            <a:ext cx="1031562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CAMPAIG</a:t>
            </a: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N OVERVIEW</a:t>
            </a:r>
          </a:p>
        </p:txBody>
      </p:sp>
      <p:grpSp>
        <p:nvGrpSpPr>
          <p:cNvPr name="Group 8" id="8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844838" y="5754250"/>
            <a:ext cx="14147712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Chic Dia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ry is a digital fashion accessory brand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Offers scrunchies, charms, and bracelets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Focus on affordable and aesthetic products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Campaign goal: increase awareness, engagement, and sales</a:t>
            </a:r>
          </a:p>
          <a:p>
            <a:pPr algn="just">
              <a:lnSpc>
                <a:spcPts val="4200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6803650" y="3543394"/>
            <a:ext cx="4180917" cy="1082358"/>
            <a:chOff x="0" y="0"/>
            <a:chExt cx="5574555" cy="144314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128875" y="0"/>
              <a:ext cx="5316804" cy="1443144"/>
              <a:chOff x="0" y="0"/>
              <a:chExt cx="1050233" cy="28506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50233" cy="285066"/>
              </a:xfrm>
              <a:custGeom>
                <a:avLst/>
                <a:gdLst/>
                <a:ahLst/>
                <a:cxnLst/>
                <a:rect r="r" b="b" t="t" l="l"/>
                <a:pathLst>
                  <a:path h="285066" w="1050233">
                    <a:moveTo>
                      <a:pt x="847033" y="0"/>
                    </a:moveTo>
                    <a:cubicBezTo>
                      <a:pt x="959257" y="0"/>
                      <a:pt x="1050233" y="63814"/>
                      <a:pt x="1050233" y="142533"/>
                    </a:cubicBezTo>
                    <a:cubicBezTo>
                      <a:pt x="1050233" y="221251"/>
                      <a:pt x="959257" y="285066"/>
                      <a:pt x="847033" y="285066"/>
                    </a:cubicBezTo>
                    <a:lnTo>
                      <a:pt x="203200" y="285066"/>
                    </a:lnTo>
                    <a:cubicBezTo>
                      <a:pt x="90976" y="285066"/>
                      <a:pt x="0" y="221251"/>
                      <a:pt x="0" y="142533"/>
                    </a:cubicBezTo>
                    <a:cubicBezTo>
                      <a:pt x="0" y="6381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050233" cy="3231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290407"/>
              <a:ext cx="5574555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Chic Diary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6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12237" y="2729607"/>
            <a:ext cx="926352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T</a:t>
            </a: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ARGET AUDIENCE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77066" y="4103419"/>
            <a:ext cx="11592183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group: 15–30 years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Active social media users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Interested in fashion and trendy accessories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Prefer affordable and aesthetic products</a:t>
            </a:r>
          </a:p>
          <a:p>
            <a:pPr algn="just">
              <a:lnSpc>
                <a:spcPts val="47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6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16232" y="2729607"/>
            <a:ext cx="1151385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 COMP</a:t>
            </a: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ETITOR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77066" y="4103419"/>
            <a:ext cx="11592183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ey competitors: Scrunchiedotcom, charms_by_neha, etc.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Active on Instagram, Facebook, TikTok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Focus on trendy products but often higher prices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Chic Dia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ry advantage: affordable + trendy bundles</a:t>
            </a:r>
          </a:p>
          <a:p>
            <a:pPr algn="just">
              <a:lnSpc>
                <a:spcPts val="47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6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16232" y="2729607"/>
            <a:ext cx="1151385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 MARK</a:t>
            </a: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ETING CHANNELS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19359" y="4103419"/>
            <a:ext cx="11592183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stagram – reels &amp; posts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Facebook – ads &amp; promotions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TikTok – viral content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Google Ads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paid reach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YouTube – tutorials &amp; shorts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Pinterest – inspiration</a:t>
            </a:r>
          </a:p>
          <a:p>
            <a:pPr algn="just">
              <a:lnSpc>
                <a:spcPts val="47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728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81045" y="7111999"/>
            <a:ext cx="1274706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CAMPAIGN </a:t>
            </a: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GOALS (SMART)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75449" y="3060358"/>
            <a:ext cx="13758256" cy="3242016"/>
            <a:chOff x="0" y="0"/>
            <a:chExt cx="18344341" cy="432268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344341" cy="4322688"/>
              <a:chOff x="0" y="0"/>
              <a:chExt cx="3623574" cy="85386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23574" cy="853864"/>
              </a:xfrm>
              <a:custGeom>
                <a:avLst/>
                <a:gdLst/>
                <a:ahLst/>
                <a:cxnLst/>
                <a:rect r="r" b="b" t="t" l="l"/>
                <a:pathLst>
                  <a:path h="853864" w="3623574">
                    <a:moveTo>
                      <a:pt x="3420374" y="0"/>
                    </a:moveTo>
                    <a:cubicBezTo>
                      <a:pt x="3532598" y="0"/>
                      <a:pt x="3623574" y="191144"/>
                      <a:pt x="3623574" y="426932"/>
                    </a:cubicBezTo>
                    <a:cubicBezTo>
                      <a:pt x="3623574" y="662720"/>
                      <a:pt x="3532598" y="853864"/>
                      <a:pt x="3420374" y="853864"/>
                    </a:cubicBezTo>
                    <a:lnTo>
                      <a:pt x="203200" y="853864"/>
                    </a:lnTo>
                    <a:cubicBezTo>
                      <a:pt x="90976" y="853864"/>
                      <a:pt x="0" y="662720"/>
                      <a:pt x="0" y="426932"/>
                    </a:cubicBezTo>
                    <a:cubicBezTo>
                      <a:pt x="0" y="19114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623574" cy="891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79897" y="403452"/>
              <a:ext cx="17184547" cy="3468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</a:t>
              </a: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each 1,000–3,000 users</a:t>
              </a:r>
            </a:p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Increase engagement by 20–25%</a:t>
              </a:r>
            </a:p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Gain 100–200 followers</a:t>
              </a:r>
            </a:p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Generate 150–200 clicks</a:t>
              </a:r>
            </a:p>
            <a:p>
              <a:pPr algn="just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Drive 80–150 potential customers</a:t>
              </a:r>
            </a:p>
            <a:p>
              <a:pPr algn="just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6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25382" y="2433724"/>
            <a:ext cx="1069555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C</a:t>
            </a: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ONTENT STRATEGY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47909" y="3773062"/>
            <a:ext cx="11592183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ocial posts: reels, carousels, flatlays, Static post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Blog: styling tips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Email: promotional campaign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Ads: bundle offers &amp; urgency-based content</a:t>
            </a:r>
          </a:p>
          <a:p>
            <a:pPr algn="just">
              <a:lnSpc>
                <a:spcPts val="47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6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2931977" y="3751228"/>
            <a:ext cx="2216373" cy="2770466"/>
          </a:xfrm>
          <a:custGeom>
            <a:avLst/>
            <a:gdLst/>
            <a:ahLst/>
            <a:cxnLst/>
            <a:rect r="r" b="b" t="t" l="l"/>
            <a:pathLst>
              <a:path h="2770466" w="2216373">
                <a:moveTo>
                  <a:pt x="0" y="0"/>
                </a:moveTo>
                <a:lnTo>
                  <a:pt x="2216373" y="0"/>
                </a:lnTo>
                <a:lnTo>
                  <a:pt x="2216373" y="2770466"/>
                </a:lnTo>
                <a:lnTo>
                  <a:pt x="0" y="27704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059847" y="3765306"/>
            <a:ext cx="2205111" cy="2756389"/>
          </a:xfrm>
          <a:custGeom>
            <a:avLst/>
            <a:gdLst/>
            <a:ahLst/>
            <a:cxnLst/>
            <a:rect r="r" b="b" t="t" l="l"/>
            <a:pathLst>
              <a:path h="2756389" w="2205111">
                <a:moveTo>
                  <a:pt x="0" y="0"/>
                </a:moveTo>
                <a:lnTo>
                  <a:pt x="2205111" y="0"/>
                </a:lnTo>
                <a:lnTo>
                  <a:pt x="2205111" y="2756388"/>
                </a:lnTo>
                <a:lnTo>
                  <a:pt x="0" y="27563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003396" y="3765306"/>
            <a:ext cx="2205111" cy="2756389"/>
          </a:xfrm>
          <a:custGeom>
            <a:avLst/>
            <a:gdLst/>
            <a:ahLst/>
            <a:cxnLst/>
            <a:rect r="r" b="b" t="t" l="l"/>
            <a:pathLst>
              <a:path h="2756389" w="2205111">
                <a:moveTo>
                  <a:pt x="0" y="0"/>
                </a:moveTo>
                <a:lnTo>
                  <a:pt x="2205111" y="0"/>
                </a:lnTo>
                <a:lnTo>
                  <a:pt x="2205111" y="2756388"/>
                </a:lnTo>
                <a:lnTo>
                  <a:pt x="0" y="27563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pic>
        <p:nvPicPr>
          <p:cNvPr name="Picture 34" id="34">
            <a:hlinkClick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>
                  <p14:trim st="0.0000" end="2000.0000"/>
                </p14:media>
              </p:ext>
            </p:extLst>
          </p:nvPr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3491072" y="3751228"/>
            <a:ext cx="2216373" cy="2770466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3654607" y="2489658"/>
            <a:ext cx="1063710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 C</a:t>
            </a: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ONTENT SAMPLES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42902" y="7175865"/>
            <a:ext cx="13849648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Video’s link: https://www.instagram.com/p/DWosgzjDc8u/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61" y="2053956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28211" y="2213405"/>
            <a:ext cx="13964338" cy="190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PERFORM</a:t>
            </a: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ANCE ANALYSIS (MOCK RESULTS)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54295" y="4651289"/>
            <a:ext cx="12779410" cy="3036855"/>
            <a:chOff x="0" y="0"/>
            <a:chExt cx="3365770" cy="7998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65771" cy="799830"/>
            </a:xfrm>
            <a:custGeom>
              <a:avLst/>
              <a:gdLst/>
              <a:ahLst/>
              <a:cxnLst/>
              <a:rect r="r" b="b" t="t" l="l"/>
              <a:pathLst>
                <a:path h="799830" w="3365771">
                  <a:moveTo>
                    <a:pt x="3162570" y="0"/>
                  </a:moveTo>
                  <a:cubicBezTo>
                    <a:pt x="3274795" y="0"/>
                    <a:pt x="3365771" y="179048"/>
                    <a:pt x="3365771" y="399915"/>
                  </a:cubicBezTo>
                  <a:cubicBezTo>
                    <a:pt x="3365771" y="620782"/>
                    <a:pt x="3274795" y="799830"/>
                    <a:pt x="3162570" y="799830"/>
                  </a:cubicBezTo>
                  <a:lnTo>
                    <a:pt x="203200" y="799830"/>
                  </a:lnTo>
                  <a:cubicBezTo>
                    <a:pt x="90976" y="799830"/>
                    <a:pt x="0" y="620782"/>
                    <a:pt x="0" y="399915"/>
                  </a:cubicBezTo>
                  <a:cubicBezTo>
                    <a:pt x="0" y="17904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65770" cy="837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974" y="4909877"/>
            <a:ext cx="11704051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Reach: 4,200 users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Engagement: +22% increase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Followers: +150 gained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Clicks: 180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Orders/Inquiries: 90+</a:t>
            </a:r>
          </a:p>
          <a:p>
            <a:pPr algn="just">
              <a:lnSpc>
                <a:spcPts val="3919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6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25382" y="2519449"/>
            <a:ext cx="1069555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INSIGHT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47909" y="4182637"/>
            <a:ext cx="11592183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ls performed best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Bundle deals increased conversions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sthetic visuals boosted engagement</a:t>
            </a:r>
          </a:p>
          <a:p>
            <a:pPr algn="just">
              <a:lnSpc>
                <a:spcPts val="47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6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25382" y="2519449"/>
            <a:ext cx="1069555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RECOMMENDATION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47909" y="4182637"/>
            <a:ext cx="11592183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on short-form content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laborate with influencers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Introduce limited offers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Maintain affordable pricing</a:t>
            </a:r>
          </a:p>
          <a:p>
            <a:pPr algn="just">
              <a:lnSpc>
                <a:spcPts val="47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47011" y="2063481"/>
            <a:ext cx="14614592" cy="6104105"/>
            <a:chOff x="0" y="0"/>
            <a:chExt cx="3849111" cy="1607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9111" cy="1607665"/>
            </a:xfrm>
            <a:custGeom>
              <a:avLst/>
              <a:gdLst/>
              <a:ahLst/>
              <a:cxnLst/>
              <a:rect r="r" b="b" t="t" l="l"/>
              <a:pathLst>
                <a:path h="1607665" w="3849111">
                  <a:moveTo>
                    <a:pt x="27017" y="0"/>
                  </a:moveTo>
                  <a:lnTo>
                    <a:pt x="3822094" y="0"/>
                  </a:lnTo>
                  <a:cubicBezTo>
                    <a:pt x="3837015" y="0"/>
                    <a:pt x="3849111" y="12096"/>
                    <a:pt x="3849111" y="27017"/>
                  </a:cubicBezTo>
                  <a:lnTo>
                    <a:pt x="3849111" y="1580649"/>
                  </a:lnTo>
                  <a:cubicBezTo>
                    <a:pt x="3849111" y="1587814"/>
                    <a:pt x="3846264" y="1594686"/>
                    <a:pt x="3841198" y="1599752"/>
                  </a:cubicBezTo>
                  <a:cubicBezTo>
                    <a:pt x="3836131" y="1604819"/>
                    <a:pt x="3829259" y="1607665"/>
                    <a:pt x="3822094" y="1607665"/>
                  </a:cubicBezTo>
                  <a:lnTo>
                    <a:pt x="27017" y="1607665"/>
                  </a:lnTo>
                  <a:cubicBezTo>
                    <a:pt x="19851" y="1607665"/>
                    <a:pt x="12980" y="1604819"/>
                    <a:pt x="7913" y="1599752"/>
                  </a:cubicBezTo>
                  <a:cubicBezTo>
                    <a:pt x="2846" y="1594686"/>
                    <a:pt x="0" y="1587814"/>
                    <a:pt x="0" y="1580649"/>
                  </a:cubicBezTo>
                  <a:lnTo>
                    <a:pt x="0" y="27017"/>
                  </a:lnTo>
                  <a:cubicBezTo>
                    <a:pt x="0" y="19851"/>
                    <a:pt x="2846" y="12980"/>
                    <a:pt x="7913" y="7913"/>
                  </a:cubicBezTo>
                  <a:cubicBezTo>
                    <a:pt x="12980" y="2846"/>
                    <a:pt x="19851" y="0"/>
                    <a:pt x="27017" y="0"/>
                  </a:cubicBezTo>
                  <a:close/>
                </a:path>
              </a:pathLst>
            </a:custGeom>
            <a:solidFill>
              <a:srgbClr val="F0F1E8"/>
            </a:solidFill>
            <a:ln w="47625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9111" cy="1645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91539" y="-36357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5952" y="8606712"/>
            <a:ext cx="7315200" cy="1822150"/>
          </a:xfrm>
          <a:custGeom>
            <a:avLst/>
            <a:gdLst/>
            <a:ahLst/>
            <a:cxnLst/>
            <a:rect r="r" b="b" t="t" l="l"/>
            <a:pathLst>
              <a:path h="1822150" w="7315200">
                <a:moveTo>
                  <a:pt x="0" y="0"/>
                </a:moveTo>
                <a:lnTo>
                  <a:pt x="7315200" y="0"/>
                </a:lnTo>
                <a:lnTo>
                  <a:pt x="7315200" y="1822150"/>
                </a:lnTo>
                <a:lnTo>
                  <a:pt x="0" y="182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373563"/>
            <a:ext cx="1620998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Safira March"/>
                <a:ea typeface="Safira March"/>
                <a:cs typeface="Safira March"/>
                <a:sym typeface="Safira March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4366811">
            <a:off x="-1206556" y="8398087"/>
            <a:ext cx="3440853" cy="1720427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490040">
            <a:off x="-671113" y="9126169"/>
            <a:ext cx="3440853" cy="1720427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62154">
            <a:off x="14967633" y="9056807"/>
            <a:ext cx="3687381" cy="1843691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3897185">
            <a:off x="16149632" y="8295555"/>
            <a:ext cx="3687381" cy="1843691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128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-2417240" y="15465"/>
            <a:ext cx="4412145" cy="2479735"/>
            <a:chOff x="0" y="0"/>
            <a:chExt cx="812800" cy="4568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56814"/>
            </a:xfrm>
            <a:custGeom>
              <a:avLst/>
              <a:gdLst/>
              <a:ahLst/>
              <a:cxnLst/>
              <a:rect r="r" b="b" t="t" l="l"/>
              <a:pathLst>
                <a:path h="456814" w="812800">
                  <a:moveTo>
                    <a:pt x="609600" y="0"/>
                  </a:moveTo>
                  <a:cubicBezTo>
                    <a:pt x="721824" y="0"/>
                    <a:pt x="812800" y="102261"/>
                    <a:pt x="812800" y="228407"/>
                  </a:cubicBezTo>
                  <a:cubicBezTo>
                    <a:pt x="812800" y="354553"/>
                    <a:pt x="721824" y="456814"/>
                    <a:pt x="609600" y="456814"/>
                  </a:cubicBezTo>
                  <a:lnTo>
                    <a:pt x="203200" y="456814"/>
                  </a:lnTo>
                  <a:cubicBezTo>
                    <a:pt x="90976" y="456814"/>
                    <a:pt x="0" y="354553"/>
                    <a:pt x="0" y="228407"/>
                  </a:cubicBezTo>
                  <a:cubicBezTo>
                    <a:pt x="0" y="1022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494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1192813">
            <a:off x="17022982" y="-522562"/>
            <a:ext cx="2268000" cy="22680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333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992550" y="-898020"/>
            <a:ext cx="2268000" cy="1984500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-1451035" y="-741017"/>
            <a:ext cx="2280880" cy="2280880"/>
            <a:chOff x="0" y="0"/>
            <a:chExt cx="6350000" cy="635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519009" y="530833"/>
              <a:ext cx="5311983" cy="5288333"/>
            </a:xfrm>
            <a:custGeom>
              <a:avLst/>
              <a:gdLst/>
              <a:ahLst/>
              <a:cxnLst/>
              <a:rect r="r" b="b" t="t" l="l"/>
              <a:pathLst>
                <a:path h="5288333" w="5311983">
                  <a:moveTo>
                    <a:pt x="2655991" y="27"/>
                  </a:moveTo>
                  <a:cubicBezTo>
                    <a:pt x="1708514" y="-4210"/>
                    <a:pt x="831190" y="498831"/>
                    <a:pt x="356224" y="1318672"/>
                  </a:cubicBezTo>
                  <a:cubicBezTo>
                    <a:pt x="-118742" y="2138512"/>
                    <a:pt x="-118742" y="3149822"/>
                    <a:pt x="356224" y="3969662"/>
                  </a:cubicBezTo>
                  <a:cubicBezTo>
                    <a:pt x="831190" y="4789503"/>
                    <a:pt x="1708514" y="5292544"/>
                    <a:pt x="2655991" y="5288307"/>
                  </a:cubicBezTo>
                  <a:cubicBezTo>
                    <a:pt x="3603468" y="5292544"/>
                    <a:pt x="4480792" y="4789503"/>
                    <a:pt x="4955758" y="3969662"/>
                  </a:cubicBezTo>
                  <a:cubicBezTo>
                    <a:pt x="5430724" y="3149822"/>
                    <a:pt x="5430724" y="2138512"/>
                    <a:pt x="4955758" y="1318672"/>
                  </a:cubicBezTo>
                  <a:cubicBezTo>
                    <a:pt x="4480792" y="498831"/>
                    <a:pt x="3603468" y="-4210"/>
                    <a:pt x="2655991" y="27"/>
                  </a:cubicBezTo>
                  <a:close/>
                </a:path>
              </a:pathLst>
            </a:custGeom>
            <a:solidFill>
              <a:srgbClr val="F0F1E8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DAG1HxnS3Hw</dc:identifier>
  <dcterms:modified xsi:type="dcterms:W3CDTF">2011-08-01T06:04:30Z</dcterms:modified>
  <cp:revision>1</cp:revision>
  <dc:title>Blue &amp; white company profile presentation</dc:title>
</cp:coreProperties>
</file>